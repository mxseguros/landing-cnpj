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76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355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3291840"/>
            <a:ext cx="4206240" cy="4206240"/>
          </a:xfrm>
          <a:prstGeom prst="ellipse">
            <a:avLst/>
          </a:prstGeom>
          <a:solidFill>
            <a:srgbClr val="1E355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ITAPIRA/SP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Estratégia de Marketing B2B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2883159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conquistar o mercado de seguros para empresas (CNPJ)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68680" y="3977640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868680" y="397764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OFF-LINE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37560" y="3977640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3B5A8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337560" y="397764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AGORA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objetivo desta estratégia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7408" y="841248"/>
            <a:ext cx="7986755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marketing aqui tem um papel único: não é </a:t>
            </a:r>
            <a:r>
              <a:rPr lang="en-US" sz="1500" dirty="0" err="1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</a:t>
            </a: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</a:t>
            </a: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é alimentar o </a:t>
            </a:r>
            <a:r>
              <a:rPr lang="en-US" sz="1500" dirty="0" err="1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</a:t>
            </a: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leads qualificados e dar credibilidade antes da abordagem.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76103" y="2670048"/>
            <a:ext cx="44348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704703" y="296265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704703" y="2962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44783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demanda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44783" y="3145536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Atrair CNPJs certos em Itapira e região, on e offline.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76103" y="3858768"/>
            <a:ext cx="44348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1704703" y="415137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704703" y="41513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344783" y="4023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44783" y="4334256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interesse em reunião para a célula B2B.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2697480"/>
            <a:ext cx="44348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720840" y="29900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72084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60920" y="286207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autoridade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60920" y="3172968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Posicionar a MX como a corretora local que entende empresas.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0" y="3886200"/>
            <a:ext cx="44348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6720840" y="4178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720840" y="4178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360920" y="4050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60920" y="4361688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 e indicação que realimentam o funil.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 flipV="1">
            <a:off x="11594592" y="6222491"/>
            <a:ext cx="231648" cy="13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4 </a:t>
            </a:r>
            <a:r>
              <a:rPr lang="en-US" sz="3000" b="1" dirty="0" err="1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públicos-alvo</a:t>
            </a: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PF interna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260604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Donos de empresa e síndicos já clientes da corretora. Lead mais quente e barato.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6537960" y="2011680"/>
            <a:ext cx="457200" cy="457200"/>
          </a:xfrm>
          <a:prstGeom prst="ellipse">
            <a:avLst/>
          </a:prstGeom>
          <a:solidFill>
            <a:srgbClr val="3B5A8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53796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98424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Comércio &amp; serviços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56248" y="260604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Lojas, restaurantes, clínicas, oficinas, academias em Itapira e vizinhas.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rgbClr val="2E7D8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63040" y="413308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75488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administradoras — 1 parceria abre uma carteira inteira.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840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6537960" y="4160520"/>
            <a:ext cx="457200" cy="457200"/>
          </a:xfrm>
          <a:prstGeom prst="ellipse">
            <a:avLst/>
          </a:prstGeom>
          <a:solidFill>
            <a:srgbClr val="1E355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53796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78040" y="413308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Indústria / média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56248" y="475488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de médio prazo: patrimonial complexo, RC, D&amp;O, frota.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Lugares e empresas para atacar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Distrito Industrial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49424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Cristália (âncora farmacêutica), Cargill, Hexagon, Fábrica de Papel N. S. da Penha, máquinas agrícolas.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553712" y="1828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comercial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53712" y="2249424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Ruas de comércio, galerias e serviços do centro de Itapira. Porta a porta consultivo.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164592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8330184" y="1828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30184" y="2249424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Residenciais e comerciais, via administradoras de Itapira e região.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777240" y="4069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 &amp; entidades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77240" y="4489704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ACII (Itapira), ACIMM (Mogi Mirim), ACIMG (Mogi Guaçu), sindicatos patronais.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5504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&amp; INDICAÇÃO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38862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53712" y="4069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vizinhas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53712" y="4489704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Mogi Guaçu, Mogi Mirim, Esp. Sto. do Pinhal, Lindóia, Águas de Lindóia.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53712" y="55504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DE RAIO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101584" y="38862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8330184" y="4069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multiplicadores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30184" y="4489704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e escritórios de contabilidade locais — acesso a dezenas de CNPJs.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30184" y="55504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ROI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LÓGICA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e digital trabalhando juntos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1E355B"/>
          </a:solidFill>
          <a:ln w="12700">
            <a:solidFill>
              <a:srgbClr val="3B5A8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ATRAIR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32918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gera demanda e presença (Google, redes, site).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36392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288" y="201168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1E355B"/>
          </a:solidFill>
          <a:ln w="12700">
            <a:solidFill>
              <a:srgbClr val="3B5A8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6301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648456" y="2880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48456" y="32918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cai no WhatsApp/CRM da célula B2B.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9788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208776" y="201168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1E355B"/>
          </a:solidFill>
          <a:ln w="12700">
            <a:solidFill>
              <a:srgbClr val="3B5A8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391656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409944" y="2880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9944" y="32918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Off-line: visita, diagnóstico e proposta consultiva.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59368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8970264" y="201168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1E355B"/>
          </a:solidFill>
          <a:ln w="12700">
            <a:solidFill>
              <a:srgbClr val="3B5A8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153144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171432" y="2880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71432" y="32918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Pós-venda, avaliação no Google e indicação.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Off-line — onde a confiança B2B se constrói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822960" y="19842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82296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Parcerias &amp; indicação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58775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(dezenas de CNPJs), administradoras de condomínio, associações comerciais. Maior ROI do plano.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6537960" y="19842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53796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9659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institucional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56248" y="258775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 err="1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</a:t>
            </a: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cafés de empresários, Rotary/Lions. Estar onde o decisor está.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22960" y="41330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22960" y="4133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63040" y="41148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vendas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" y="473659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'Raio-x de riscos' de 1 página por segmento (comércio, condomínio, frota) para a visita.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3840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6537960" y="41330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537960" y="4133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78040" y="41148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Mídia local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56248" y="473659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Rádio e jornal de Itapira com moderação — sempre com CTA (WhatsApp/telefone da célula).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— gerar demanda e provar valor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822960" y="1984248"/>
            <a:ext cx="457200" cy="457200"/>
          </a:xfrm>
          <a:prstGeom prst="ellipse">
            <a:avLst/>
          </a:prstGeom>
          <a:solidFill>
            <a:srgbClr val="3B5A8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82296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(o nº 1 do B2B local)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41248" y="258775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 Negócio otimizado + Ads de busca geolocalizada: 'seguro empresarial Itapira'. 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6537960" y="1984248"/>
            <a:ext cx="457200" cy="457200"/>
          </a:xfrm>
          <a:prstGeom prst="ellipse">
            <a:avLst/>
          </a:prstGeom>
          <a:solidFill>
            <a:srgbClr val="3B5A8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53796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965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&amp; landing pages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556248" y="258775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por segmento (Empresas, Condomínio, Frota) com formulário que cai no WhatsApp da célula.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22960" y="4133088"/>
            <a:ext cx="457200" cy="457200"/>
          </a:xfrm>
          <a:prstGeom prst="ellipse">
            <a:avLst/>
          </a:prstGeom>
          <a:solidFill>
            <a:srgbClr val="3B5A8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22960" y="4133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63040" y="411480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&amp; WhatsApp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1248" y="473659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para média empresa/indústria; WhatsApp Business como canal de atendimento e nutrição.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3840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6537960" y="4133088"/>
            <a:ext cx="457200" cy="457200"/>
          </a:xfrm>
          <a:prstGeom prst="ellipse">
            <a:avLst/>
          </a:prstGeom>
          <a:solidFill>
            <a:srgbClr val="3B5A8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537960" y="4133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78040" y="411480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&amp; Meta Ads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556248" y="473659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Vídeos/posts de autoridade local + remarketing no Instagram/Facebook para quem visitou o site.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COMBUSTÍVEL DO FUNIL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dados &amp; prospecção de CNPJ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14243B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Serasa Experian — mailing de CNPJ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892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prospecção (mailing list) por CNAE, porte, região e faturamento</a:t>
            </a:r>
            <a:endParaRPr lang="en-US" sz="13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CNPJs ativos na Receita — públicos e em conformidade com a LGPD</a:t>
            </a:r>
            <a:endParaRPr lang="en-US" sz="13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Enriquecimento: sócios, telefone, endereço e situação de crédito</a:t>
            </a:r>
            <a:endParaRPr lang="en-US" sz="13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Contratação direta ou via distribuidor autorizado (ex.: Think Data)</a:t>
            </a:r>
            <a:endParaRPr lang="en-US" sz="13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priorizar quem tem perfil e saúde financeira para pagar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fontes complementares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24028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537960" y="2368296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PF interna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37960" y="2697480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a carteira da corretora atrás de CNPJs ligados aos clientes atuais. Custo zero, lead quente.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3410712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537960" y="35387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Econodata / Pejota Dados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37960" y="3867912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e listas de empresas por CNAE em Itapira e região para prospecção segmentada.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4581144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537960" y="47091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Federal (CNPJ aberto)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37960" y="5038344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pública para validar dados cadastrais e situação da empresa.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DE MÍDIA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Veículos de comunicação por objetivo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49040" cy="457200"/>
          </a:xfrm>
          <a:prstGeom prst="rect">
            <a:avLst/>
          </a:prstGeom>
          <a:solidFill>
            <a:srgbClr val="14243B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691640"/>
            <a:ext cx="2194560" cy="457200"/>
          </a:xfrm>
          <a:prstGeom prst="rect">
            <a:avLst/>
          </a:prstGeom>
          <a:solidFill>
            <a:srgbClr val="14243B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407408" y="1691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92240" y="1691640"/>
            <a:ext cx="2560320" cy="457200"/>
          </a:xfrm>
          <a:prstGeom prst="rect">
            <a:avLst/>
          </a:prstGeom>
          <a:solidFill>
            <a:srgbClr val="14243B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601968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052560" y="1691640"/>
            <a:ext cx="2606040" cy="457200"/>
          </a:xfrm>
          <a:prstGeom prst="rect">
            <a:avLst/>
          </a:prstGeom>
          <a:solidFill>
            <a:srgbClr val="14243B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9162288" y="16916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148840"/>
            <a:ext cx="3749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58368" y="2148840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/ Meu Negócio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2148840"/>
            <a:ext cx="219456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407408" y="2148840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2148840"/>
            <a:ext cx="256032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601968" y="2148840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busca seguro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606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162288" y="2148840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Captar intenção alta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2647188"/>
            <a:ext cx="3749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58368" y="2647188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+ landing pages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97680" y="2647188"/>
            <a:ext cx="219456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407408" y="2647188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92240" y="2647188"/>
            <a:ext cx="256032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6601968" y="2647188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segmentos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052560" y="2647188"/>
            <a:ext cx="2606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9162288" y="2647188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em lead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3145536"/>
            <a:ext cx="3749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658368" y="3145536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/ Facebook Ads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97680" y="3145536"/>
            <a:ext cx="219456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407408" y="3145536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92240" y="3145536"/>
            <a:ext cx="256032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6601968" y="3145536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Comércio e serviços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52560" y="3145536"/>
            <a:ext cx="2606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9162288" y="3145536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+ remarketing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3643884"/>
            <a:ext cx="3749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658368" y="3643884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297680" y="3643884"/>
            <a:ext cx="219456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4407408" y="3643884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92240" y="3643884"/>
            <a:ext cx="256032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6601968" y="3643884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empresa / indústria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052560" y="3643884"/>
            <a:ext cx="2606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9162288" y="3643884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e prospecção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4142232"/>
            <a:ext cx="3749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658368" y="4142232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297680" y="4142232"/>
            <a:ext cx="219456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4407408" y="4142232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92240" y="4142232"/>
            <a:ext cx="256032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6601968" y="4142232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 clientes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9052560" y="4142232"/>
            <a:ext cx="2606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9162288" y="4142232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e nutrir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4640580"/>
            <a:ext cx="3749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658368" y="4640580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/ administradoras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4297680" y="4640580"/>
            <a:ext cx="219456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4407408" y="4640580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492240" y="4640580"/>
            <a:ext cx="256032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6601968" y="4640580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CNPJs e condomínios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9052560" y="4640580"/>
            <a:ext cx="2606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9162288" y="4640580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Indicação qualificada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5138928"/>
            <a:ext cx="3749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658368" y="5138928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ACII / eventos locais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297680" y="5138928"/>
            <a:ext cx="219456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4407408" y="5138928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492240" y="5138928"/>
            <a:ext cx="256032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6601968" y="5138928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Empresários da região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9052560" y="5138928"/>
            <a:ext cx="2606040" cy="498348"/>
          </a:xfrm>
          <a:prstGeom prst="rect">
            <a:avLst/>
          </a:prstGeom>
          <a:solidFill>
            <a:srgbClr val="F2F5F9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9162288" y="5138928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548640" y="5637276"/>
            <a:ext cx="3749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658368" y="5637276"/>
            <a:ext cx="3566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Rádio e jornal de Itapira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4297680" y="5637276"/>
            <a:ext cx="219456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4407408" y="5637276"/>
            <a:ext cx="201168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6492240" y="5637276"/>
            <a:ext cx="256032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6601968" y="5637276"/>
            <a:ext cx="237744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Empresário tradicional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9052560" y="5637276"/>
            <a:ext cx="2606040" cy="4983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9162288" y="5637276"/>
            <a:ext cx="2423160" cy="498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de marca local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ação — primeiros 90 dias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10996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777240" y="200253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2002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183794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22219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Google Meu Negócio e Ads; criar landing pages por segmento; ativar CRM; contratar/segmentar base Serasa; cruzar base PF.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1110996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777240" y="32186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77240" y="3218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305409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343814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09067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2–3 contadores e mapear administradoras; </a:t>
            </a:r>
            <a:r>
              <a:rPr lang="en-US" sz="1250" dirty="0" err="1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</a:t>
            </a: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conteúdo local; campanha interna de indicação PF.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123944"/>
            <a:ext cx="1110996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17320" y="42702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5–8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65429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a pleno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4306824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Prospecção ativa com listas Serasa; anúncios rodando; primeiras visitas e cotações; pedir avaliação no Google a cada cliente.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MEDIR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Metas e prioridade de investimento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5176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48640" y="184708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120–160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B2B prospectados / mês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65176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37560" y="184708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2044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reuniões de diagnóstico / mês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265176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126480" y="184708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30936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apólices empresariais / mês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15400" y="1691640"/>
            <a:ext cx="265176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101600" dist="38100" dir="5400000" algn="bl" rotWithShape="0">
              <a:srgbClr val="9AA6B8">
                <a:alpha val="3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8915400" y="184708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09828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cotação → venda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de prioridade do investimento (comece pelo topo)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06908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Parcerias (contadores, administradoras) — custo ~zero, ROI altíssimo</a:t>
            </a:r>
            <a:endParaRPr lang="en-US" sz="1400" dirty="0"/>
          </a:p>
          <a:p>
            <a:pPr marL="0" indent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Google (Meu Negócio + Ads de busca) — capta intenção alta</a:t>
            </a:r>
            <a:endParaRPr lang="en-US" sz="1400" dirty="0"/>
          </a:p>
          <a:p>
            <a:pPr marL="0" indent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Base PF + avaliações e indicação — lead quente e barato</a:t>
            </a:r>
            <a:endParaRPr lang="en-US" sz="1400" dirty="0"/>
          </a:p>
          <a:p>
            <a:pPr marL="0" indent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Conteúdo local nas redes + base Serasa para prospecção ativa</a:t>
            </a:r>
            <a:endParaRPr lang="en-US" sz="1400" dirty="0"/>
          </a:p>
          <a:p>
            <a:pPr marL="0" indent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ACII / eventos, Meta Ads e mídia local — reforço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Estratégia de Marketing B2B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22960" y="13716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37160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Comece por uma frente e meça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9601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a primeira parceria com um contador local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a base Serasa e cruzar a carteira PF para gerar os primeiros leads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os KPIs no CRM e revisar o funil toda semana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Seguros · Itapira/SP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1129</Words>
  <Application>Microsoft Office PowerPoint</Application>
  <PresentationFormat>Widescreen</PresentationFormat>
  <Paragraphs>217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 Betto</cp:lastModifiedBy>
  <cp:revision>4</cp:revision>
  <dcterms:created xsi:type="dcterms:W3CDTF">2026-07-29T19:32:00Z</dcterms:created>
  <dcterms:modified xsi:type="dcterms:W3CDTF">2026-08-18T18:15:53Z</dcterms:modified>
</cp:coreProperties>
</file>