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669280" cy="5669280"/>
          </a:xfrm>
          <a:prstGeom prst="ellipse">
            <a:avLst/>
          </a:prstGeom>
          <a:solidFill>
            <a:srgbClr val="1E355B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3291840"/>
            <a:ext cx="4206240" cy="4206240"/>
          </a:xfrm>
          <a:prstGeom prst="ellipse">
            <a:avLst/>
          </a:prstGeom>
          <a:solidFill>
            <a:srgbClr val="1E355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23444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 SEGUROS · ITAPIRA/SP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Estratégia de Marketing B2B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41248" y="3063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conquistar o mercado de seguros para empresas (CNPJ)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68680" y="3977640"/>
            <a:ext cx="2286000" cy="56692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97764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OFF-LINE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37560" y="3977640"/>
            <a:ext cx="2286000" cy="566928"/>
          </a:xfrm>
          <a:prstGeom prst="roundRect">
            <a:avLst>
              <a:gd name="adj" fmla="val 50000"/>
            </a:avLst>
          </a:prstGeom>
          <a:solidFill>
            <a:srgbClr val="3B5A86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397764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5943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executivo · Célula B2B dedicada · julho de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AGORA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objetivo desta estratégia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6400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MX Seguros é uma corretora consolidada (~60 colaboradores) que está estruturando a venda para empresas com uma célula B2B dedicada. O marketing aqui tem um papel único: não é fazer marca — é alimentar o funil dessa dupla com leads qualificados e dar credibilidade antes da abordagem.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223760" y="1600200"/>
            <a:ext cx="44348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8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52360" y="1892808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7452360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092440" y="176479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demanda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92440" y="2075688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Atrair CNPJs certos em Itapira e região, on e offline.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223760" y="2788920"/>
            <a:ext cx="44348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8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52360" y="3081528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7452360" y="3081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092440" y="295351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92440" y="3264408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interesse em reunião para a célula B2B.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23760" y="3977640"/>
            <a:ext cx="44348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8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52360" y="4270248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7452360" y="4270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092440" y="414223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autoridade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92440" y="4453128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Posicionar a MX como a corretora local que entende empresas.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23760" y="5166360"/>
            <a:ext cx="44348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8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52360" y="5458968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7452360" y="5458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092440" y="533095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Fidelizar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92440" y="5641848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Pós-venda e indicação que realimentam o funil.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539496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B5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Regra: toda ação de marketing deve terminar em um contato que a dupla consegue trabalhar no CRM.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 Seguros · Estratégia de Marketing B2B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mercado de Itapira em números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6517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7830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10,6 mil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ativas na cidade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600200"/>
            <a:ext cx="26517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8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7830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B5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46,9%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20440" y="2606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valor adicionado vem da indústria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600200"/>
            <a:ext cx="26517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8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7830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7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42,6%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309360" y="2606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vem de serviços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15400" y="1600200"/>
            <a:ext cx="26517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8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15400" y="17830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R$ 4,8 bi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098280" y="2606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municipal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703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está a oportunidade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36576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8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" y="4297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Comércio &amp; serviços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475488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nº de CNPJs e o setor que mais emprega. Ticket menor, decisão rápida — tração.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25112" y="4114800"/>
            <a:ext cx="36576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8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53712" y="4297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Indústria &amp; farmacêutica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53712" y="475488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Cristália, Cargill, Hexagon, papel. Ticket alto e técnico — jogo de médio prazo.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01584" y="4114800"/>
            <a:ext cx="36576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8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30184" y="4297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Condomínios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30184" y="475488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 obrigatório, renovação recorrente e indicação forte entre síndicos.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 Seguros · Estratégia de Marketing B2B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4 públicos-alvo (ICP)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8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1168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63040" y="198424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PF interna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41248" y="260604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Donos de empresa e síndicos já clientes da corretora. Lead mais quente e barato.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4864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8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2011680"/>
            <a:ext cx="457200" cy="457200"/>
          </a:xfrm>
          <a:prstGeom prst="ellipse">
            <a:avLst/>
          </a:prstGeom>
          <a:solidFill>
            <a:srgbClr val="3B5A86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178040" y="198424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Comércio &amp; serviços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56248" y="260604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Lojas, restaurantes, clínicas, oficinas, academias em Itapira e vizinhas.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54864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8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160520"/>
            <a:ext cx="457200" cy="457200"/>
          </a:xfrm>
          <a:prstGeom prst="ellipse">
            <a:avLst/>
          </a:prstGeom>
          <a:solidFill>
            <a:srgbClr val="2E7D8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63040" y="413308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Condomínios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1248" y="475488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administradoras — 1 parceria abre uma carteira inteira.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3840480"/>
            <a:ext cx="54864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8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37960" y="4160520"/>
            <a:ext cx="457200" cy="457200"/>
          </a:xfrm>
          <a:prstGeom prst="ellipse">
            <a:avLst/>
          </a:prstGeom>
          <a:solidFill>
            <a:srgbClr val="1E355B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178040" y="413308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Indústria / média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556248" y="475488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de médio prazo: patrimonial complexo, RC, D&amp;O, frota.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 Seguros · Estratégia de Marketing B2B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ESTÃO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Lugares e empresas para atacar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61188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28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Distrito Industrial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249424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Cristália (âncora farmacêutica), Cargill, Hexagon, Fábrica de Papel N. S. da Penha, máquinas agrícolas.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33101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CONTAS TÉCNICAS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25112" y="1645920"/>
            <a:ext cx="361188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8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53712" y="1828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comercial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53712" y="2249424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Ruas de comércio, galerias e serviços do centro de Itapira. Porta a porta consultivo.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53712" y="33101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TRAÇÃO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01584" y="1645920"/>
            <a:ext cx="361188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30184" y="1828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Condomínios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30184" y="2249424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Residenciais e comerciais, via administradoras de Itapira e região.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330184" y="33101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RECORRÊNCIA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886200"/>
            <a:ext cx="361188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8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4069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Associações &amp; entidades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77240" y="4489704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ACII (Itapira), ACIMM (Mogi Mirim), ACIMG (Mogi Guaçu), sindicatos patronais.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77240" y="55504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&amp; INDICAÇÃO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25112" y="3886200"/>
            <a:ext cx="361188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8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53712" y="4069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Cidades vizinhas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53712" y="4489704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Mogi Guaçu, Mogi Mirim, Esp. Sto. do Pinhal, Lindóia, Águas de Lindóia.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53712" y="55504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DE RAIO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01584" y="3886200"/>
            <a:ext cx="361188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8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330184" y="4069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Parceiros multiplicadores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330184" y="4489704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Contadores e escritórios de contabilidade locais — acesso a dezenas de CNPJs.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330184" y="55504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ROI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 Seguros · Estratégia de Marketing B2B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LÓGICA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 e digital trabalhando juntos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1E355B"/>
          </a:solidFill>
          <a:ln w="12700">
            <a:solidFill>
              <a:srgbClr val="3B5A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945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86968" y="2880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ATRAIR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86968" y="329184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gera demanda e presença (Google, redes, site).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36392" y="27889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447288" y="201168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1E355B"/>
          </a:solidFill>
          <a:ln w="12700">
            <a:solidFill>
              <a:srgbClr val="3B5A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0168" y="21945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648456" y="2880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48456" y="329184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cai no WhatsApp/CRM da célula B2B.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97880" y="27889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208776" y="201168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1E355B"/>
          </a:solidFill>
          <a:ln w="12700">
            <a:solidFill>
              <a:srgbClr val="3B5A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91656" y="21945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409944" y="2880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9944" y="329184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Off-line: visita, diagnóstico e proposta consultiva.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59368" y="27889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8970264" y="201168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1E355B"/>
          </a:solidFill>
          <a:ln w="12700">
            <a:solidFill>
              <a:srgbClr val="3B5A8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53144" y="21945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9171432" y="2880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FIDELIZAR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71432" y="329184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Pós-venda, avaliação no Google e indicação.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" y="5120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F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o CRM ligando as pontas, verba de marketing vira lead perdido.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 Seguros · Estratégia de Marketing B2B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Off-line — onde a confiança B2B se constrói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8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84248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84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63040" y="196596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Parcerias &amp; indicação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2587752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Contadores (dezenas de CNPJs), administradoras de condomínio, associações comerciais. Maior ROI do plano.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4864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8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1984248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984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178040" y="196596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institucional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56248" y="2587752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Filiar-se à ACII, eventos e cafés de empresários, Rotary/Lions. Estar onde o decisor está.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54864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8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133088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133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63040" y="41148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vendas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1248" y="4736592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'Raio-x de riscos' de 1 página por segmento (comércio, condomínio, frota) para a visita.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3840480"/>
            <a:ext cx="54864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8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37960" y="4133088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4133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178040" y="41148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Mídia local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56248" y="4736592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Rádio e jornal de Itapira com moderação — sempre com CTA (WhatsApp/telefone da célula).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 Seguros · Estratégia de Marketing B2B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— gerar demanda e provar valor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8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84248"/>
            <a:ext cx="457200" cy="457200"/>
          </a:xfrm>
          <a:prstGeom prst="ellipse">
            <a:avLst/>
          </a:prstGeom>
          <a:solidFill>
            <a:srgbClr val="3B5A8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84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63040" y="196596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(o nº 1 do B2B local)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41248" y="2587752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Meu Negócio otimizado + Ads de busca geolocalizada: 'seguro empresarial Itapira'. Baixa concorrência local.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4864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8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1984248"/>
            <a:ext cx="457200" cy="457200"/>
          </a:xfrm>
          <a:prstGeom prst="ellipse">
            <a:avLst/>
          </a:prstGeom>
          <a:solidFill>
            <a:srgbClr val="3B5A86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984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178040" y="196596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&amp; landing pages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556248" y="2587752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por segmento (Empresas, Condomínio, Frota) com formulário que cai no WhatsApp da célula.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54864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8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133088"/>
            <a:ext cx="457200" cy="457200"/>
          </a:xfrm>
          <a:prstGeom prst="ellipse">
            <a:avLst/>
          </a:prstGeom>
          <a:solidFill>
            <a:srgbClr val="3B5A86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133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63040" y="411480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&amp; WhatsApp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41248" y="4736592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para média empresa/indústria; WhatsApp Business como canal de atendimento e nutrição.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3840480"/>
            <a:ext cx="54864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8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37960" y="4133088"/>
            <a:ext cx="457200" cy="457200"/>
          </a:xfrm>
          <a:prstGeom prst="ellipse">
            <a:avLst/>
          </a:prstGeom>
          <a:solidFill>
            <a:srgbClr val="3B5A86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4133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178040" y="411480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&amp; Meta Ads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556248" y="4736592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Vídeos/posts de autoridade local + remarketing no Instagram/Facebook para quem visitou o site.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 Seguros · Estratégia de Marketing B2B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COMBUSTÍVEL DO FUNIL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dados &amp; prospecção de CNPJ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14243B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20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Serasa Experian — mailing de CNPJ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4892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prospecção (mailing list) por CNAE, porte, região e faturamento</a:t>
            </a:r>
            <a:endParaRPr lang="en-US" sz="1300" dirty="0"/>
          </a:p>
          <a:p>
            <a:pPr marL="190500" indent="-1905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CNPJs ativos na Receita — públicos e em conformidade com a LGPD</a:t>
            </a:r>
            <a:endParaRPr lang="en-US" sz="1300" dirty="0"/>
          </a:p>
          <a:p>
            <a:pPr marL="190500" indent="-1905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Enriquecimento: sócios, telefone, endereço e situação de crédito</a:t>
            </a:r>
            <a:endParaRPr lang="en-US" sz="1300" dirty="0"/>
          </a:p>
          <a:p>
            <a:pPr marL="190500" indent="-1905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Contratação direta ou via distribuidor autorizado (ex.: Think Data)</a:t>
            </a:r>
            <a:endParaRPr lang="en-US" sz="1300" dirty="0"/>
          </a:p>
          <a:p>
            <a:pPr marL="190500" indent="-1905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priorizar quem tem perfil e saúde financeira para pagar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Outras fontes complementares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09360" y="2240280"/>
            <a:ext cx="53492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8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2368296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PF interna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37960" y="269748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Cruzar a carteira da corretora atrás de CNPJs ligados aos clientes atuais. Custo zero, lead quente.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3410712"/>
            <a:ext cx="53492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8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37960" y="353872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Econodata / Pejota Dados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37960" y="3867912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 e listas de empresas por CNAE em Itapira e região para prospecção segmentada.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09360" y="4581144"/>
            <a:ext cx="53492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8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37960" y="4709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Federal (CNPJ aberto)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37960" y="5038344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pública para validar dados cadastrais e situação da empresa.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 Seguros · Estratégia de Marketing B2B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DE MÍDIA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Veículos de comunicação por objetivo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749040" cy="457200"/>
          </a:xfrm>
          <a:prstGeom prst="rect">
            <a:avLst/>
          </a:prstGeom>
          <a:solidFill>
            <a:srgbClr val="14243B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691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7680" y="1691640"/>
            <a:ext cx="2194560" cy="457200"/>
          </a:xfrm>
          <a:prstGeom prst="rect">
            <a:avLst/>
          </a:prstGeom>
          <a:solidFill>
            <a:srgbClr val="14243B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07408" y="1691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92240" y="1691640"/>
            <a:ext cx="2560320" cy="457200"/>
          </a:xfrm>
          <a:prstGeom prst="rect">
            <a:avLst/>
          </a:prstGeom>
          <a:solidFill>
            <a:srgbClr val="14243B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01968" y="1691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052560" y="1691640"/>
            <a:ext cx="2606040" cy="457200"/>
          </a:xfrm>
          <a:prstGeom prst="rect">
            <a:avLst/>
          </a:prstGeom>
          <a:solidFill>
            <a:srgbClr val="14243B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62288" y="16916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148840"/>
            <a:ext cx="3749040" cy="498348"/>
          </a:xfrm>
          <a:prstGeom prst="rect">
            <a:avLst/>
          </a:prstGeom>
          <a:solidFill>
            <a:srgbClr val="F2F5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148840"/>
            <a:ext cx="35661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/ Meu Negócio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97680" y="2148840"/>
            <a:ext cx="2194560" cy="498348"/>
          </a:xfrm>
          <a:prstGeom prst="rect">
            <a:avLst/>
          </a:prstGeom>
          <a:solidFill>
            <a:srgbClr val="F2F5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07408" y="2148840"/>
            <a:ext cx="201168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92240" y="2148840"/>
            <a:ext cx="2560320" cy="498348"/>
          </a:xfrm>
          <a:prstGeom prst="rect">
            <a:avLst/>
          </a:prstGeom>
          <a:solidFill>
            <a:srgbClr val="F2F5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01968" y="2148840"/>
            <a:ext cx="23774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já busca seguro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52560" y="2148840"/>
            <a:ext cx="2606040" cy="498348"/>
          </a:xfrm>
          <a:prstGeom prst="rect">
            <a:avLst/>
          </a:prstGeom>
          <a:solidFill>
            <a:srgbClr val="F2F5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62288" y="2148840"/>
            <a:ext cx="24231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Captar intenção alta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2647188"/>
            <a:ext cx="3749040" cy="4983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2647188"/>
            <a:ext cx="35661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+ landing pages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97680" y="2647188"/>
            <a:ext cx="2194560" cy="4983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07408" y="2647188"/>
            <a:ext cx="201168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92240" y="2647188"/>
            <a:ext cx="2560320" cy="4983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01968" y="2647188"/>
            <a:ext cx="23774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segmentos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052560" y="2647188"/>
            <a:ext cx="2606040" cy="4983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62288" y="2647188"/>
            <a:ext cx="24231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Converter em lead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3145536"/>
            <a:ext cx="3749040" cy="498348"/>
          </a:xfrm>
          <a:prstGeom prst="rect">
            <a:avLst/>
          </a:prstGeom>
          <a:solidFill>
            <a:srgbClr val="F2F5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3145536"/>
            <a:ext cx="35661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/ Facebook Ads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297680" y="3145536"/>
            <a:ext cx="2194560" cy="498348"/>
          </a:xfrm>
          <a:prstGeom prst="rect">
            <a:avLst/>
          </a:prstGeom>
          <a:solidFill>
            <a:srgbClr val="F2F5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07408" y="3145536"/>
            <a:ext cx="201168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92240" y="3145536"/>
            <a:ext cx="2560320" cy="498348"/>
          </a:xfrm>
          <a:prstGeom prst="rect">
            <a:avLst/>
          </a:prstGeom>
          <a:solidFill>
            <a:srgbClr val="F2F5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01968" y="3145536"/>
            <a:ext cx="23774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Comércio e serviços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052560" y="3145536"/>
            <a:ext cx="2606040" cy="498348"/>
          </a:xfrm>
          <a:prstGeom prst="rect">
            <a:avLst/>
          </a:prstGeom>
          <a:solidFill>
            <a:srgbClr val="F2F5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62288" y="3145536"/>
            <a:ext cx="24231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+ remarketing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48640" y="3643884"/>
            <a:ext cx="3749040" cy="4983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" y="3643884"/>
            <a:ext cx="35661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297680" y="3643884"/>
            <a:ext cx="2194560" cy="4983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07408" y="3643884"/>
            <a:ext cx="201168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492240" y="3643884"/>
            <a:ext cx="2560320" cy="4983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01968" y="3643884"/>
            <a:ext cx="23774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empresa / indústria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9052560" y="3643884"/>
            <a:ext cx="2606040" cy="4983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62288" y="3643884"/>
            <a:ext cx="24231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 e prospecção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48640" y="4142232"/>
            <a:ext cx="3749040" cy="498348"/>
          </a:xfrm>
          <a:prstGeom prst="rect">
            <a:avLst/>
          </a:prstGeom>
          <a:solidFill>
            <a:srgbClr val="F2F5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" y="4142232"/>
            <a:ext cx="35661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297680" y="4142232"/>
            <a:ext cx="2194560" cy="498348"/>
          </a:xfrm>
          <a:prstGeom prst="rect">
            <a:avLst/>
          </a:prstGeom>
          <a:solidFill>
            <a:srgbClr val="F2F5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07408" y="4142232"/>
            <a:ext cx="201168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492240" y="4142232"/>
            <a:ext cx="2560320" cy="498348"/>
          </a:xfrm>
          <a:prstGeom prst="rect">
            <a:avLst/>
          </a:prstGeom>
          <a:solidFill>
            <a:srgbClr val="F2F5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01968" y="4142232"/>
            <a:ext cx="23774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e clientes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9052560" y="4142232"/>
            <a:ext cx="2606040" cy="498348"/>
          </a:xfrm>
          <a:prstGeom prst="rect">
            <a:avLst/>
          </a:prstGeom>
          <a:solidFill>
            <a:srgbClr val="F2F5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62288" y="4142232"/>
            <a:ext cx="24231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Atender e nutrir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548640" y="4640580"/>
            <a:ext cx="3749040" cy="4983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8368" y="4640580"/>
            <a:ext cx="35661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Contadores / administradoras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4297680" y="4640580"/>
            <a:ext cx="2194560" cy="4983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07408" y="4640580"/>
            <a:ext cx="201168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6492240" y="4640580"/>
            <a:ext cx="2560320" cy="4983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01968" y="4640580"/>
            <a:ext cx="23774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CNPJs e condomínios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9052560" y="4640580"/>
            <a:ext cx="2606040" cy="4983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162288" y="4640580"/>
            <a:ext cx="24231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Indicação qualificada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548640" y="5138928"/>
            <a:ext cx="3749040" cy="498348"/>
          </a:xfrm>
          <a:prstGeom prst="rect">
            <a:avLst/>
          </a:prstGeom>
          <a:solidFill>
            <a:srgbClr val="F2F5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8368" y="5138928"/>
            <a:ext cx="35661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ACII / eventos locais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4297680" y="5138928"/>
            <a:ext cx="2194560" cy="498348"/>
          </a:xfrm>
          <a:prstGeom prst="rect">
            <a:avLst/>
          </a:prstGeom>
          <a:solidFill>
            <a:srgbClr val="F2F5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407408" y="5138928"/>
            <a:ext cx="201168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6492240" y="5138928"/>
            <a:ext cx="2560320" cy="498348"/>
          </a:xfrm>
          <a:prstGeom prst="rect">
            <a:avLst/>
          </a:prstGeom>
          <a:solidFill>
            <a:srgbClr val="F2F5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601968" y="5138928"/>
            <a:ext cx="23774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Empresários da região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9052560" y="5138928"/>
            <a:ext cx="2606040" cy="498348"/>
          </a:xfrm>
          <a:prstGeom prst="rect">
            <a:avLst/>
          </a:prstGeom>
          <a:solidFill>
            <a:srgbClr val="F2F5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162288" y="5138928"/>
            <a:ext cx="24231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548640" y="5637276"/>
            <a:ext cx="3749040" cy="4983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8368" y="5637276"/>
            <a:ext cx="35661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Rádio e jornal de Itapira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4297680" y="5637276"/>
            <a:ext cx="2194560" cy="4983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407408" y="5637276"/>
            <a:ext cx="201168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150" dirty="0"/>
          </a:p>
        </p:txBody>
      </p:sp>
      <p:sp>
        <p:nvSpPr>
          <p:cNvPr id="73" name="Shape 71"/>
          <p:cNvSpPr/>
          <p:nvPr/>
        </p:nvSpPr>
        <p:spPr>
          <a:xfrm>
            <a:off x="6492240" y="5637276"/>
            <a:ext cx="2560320" cy="4983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601968" y="5637276"/>
            <a:ext cx="23774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Empresário tradicional</a:t>
            </a:r>
            <a:endParaRPr lang="en-US" sz="1150" dirty="0"/>
          </a:p>
        </p:txBody>
      </p:sp>
      <p:sp>
        <p:nvSpPr>
          <p:cNvPr id="75" name="Shape 73"/>
          <p:cNvSpPr/>
          <p:nvPr/>
        </p:nvSpPr>
        <p:spPr>
          <a:xfrm>
            <a:off x="9052560" y="5637276"/>
            <a:ext cx="2606040" cy="4983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162288" y="5637276"/>
            <a:ext cx="24231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Reforço de marca local</a:t>
            </a:r>
            <a:endParaRPr lang="en-US" sz="1150" dirty="0"/>
          </a:p>
        </p:txBody>
      </p:sp>
      <p:sp>
        <p:nvSpPr>
          <p:cNvPr id="77" name="Text 7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 Seguros · Estratégia de Marketing B2B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 de ação — primeiros 90 dias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10996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8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0253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02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17320" y="183794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1–2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222199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Fundação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0" y="187452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Google Meu Negócio e Ads; criar landing pages por segmento; ativar CRM; contratar/segmentar base Serasa; cruzar base PF.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907792"/>
            <a:ext cx="1110996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8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3218688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218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17320" y="305409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3–4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343814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0" y="3090672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Fechar 2–3 contadores e mapear administradoras; filiar à ACII; primeiro conteúdo local; campanha interna de indicação PF.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123944"/>
            <a:ext cx="1110996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8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443484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17320" y="427024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5–8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17320" y="465429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a pleno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0" y="4306824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Prospecção ativa com listas Serasa; anúncios rodando; primeiras visitas e cotações; pedir avaliação no Google a cada cliente.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340096"/>
            <a:ext cx="1110996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8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565099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650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417320" y="5486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9–12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17320" y="587044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0" y="5522976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KPIs no CRM; dobrar o canal que mais converte; iniciar remarketing e cross-sell de Vida em Grupo.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 Seguros · Estratégia de Marketing B2B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MEDIR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Metas e prioridade de investimento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5176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84708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8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120–160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5420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contatos B2B prospectados / mês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691640"/>
            <a:ext cx="265176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8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84708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8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20–30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20440" y="25420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reuniões de diagnóstico / mês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691640"/>
            <a:ext cx="265176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8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84708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8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6–10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309360" y="25420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apólices empresariais / mês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15400" y="1691640"/>
            <a:ext cx="265176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8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15400" y="184708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8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098280" y="25420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 cotação → venda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566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de prioridade do investimento (comece pelo topo)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406908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Parcerias (contadores, administradoras) — custo ~zero, ROI altíssimo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Google (Meu Negócio + Ads de busca) — capta intenção alta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Base PF + avaliações e indicação — lead quente e barato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Conteúdo local nas redes + base Serasa para prospecção ativa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ACII / eventos, Meta Ads e mídia local — reforço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 Seguros · Estratégia de Marketing B2B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023360"/>
            <a:ext cx="5029200" cy="5029200"/>
          </a:xfrm>
          <a:prstGeom prst="ellipse">
            <a:avLst/>
          </a:prstGeom>
          <a:solidFill>
            <a:srgbClr val="1E355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37160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325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Comece por uma frente e meça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9601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Fechar a primeira parceria com um contador local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Contratar a base Serasa e cruzar a carteira PF para gerar os primeiros leads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os KPIs no CRM e revisar o funil toda semana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 Seguros · Itapira/SP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2026-07-29T19:32:00Z</dcterms:created>
  <dcterms:modified xsi:type="dcterms:W3CDTF">2026-07-29T19:32:00Z</dcterms:modified>
</cp:coreProperties>
</file>